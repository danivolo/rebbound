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1" autoAdjust="0"/>
    <p:restoredTop sz="82076" autoAdjust="0"/>
  </p:normalViewPr>
  <p:slideViewPr>
    <p:cSldViewPr snapToGrid="0">
      <p:cViewPr>
        <p:scale>
          <a:sx n="100" d="100"/>
          <a:sy n="100" d="100"/>
        </p:scale>
        <p:origin x="2682" y="87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35DF5-8CC8-45B2-BC87-5C8E34C7B861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7448E-A29A-4361-BEAE-5866CE46D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9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217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Parlare degli incontri iperbolici</a:t>
            </a:r>
          </a:p>
          <a:p>
            <a:r>
              <a:rPr lang="it-IT" dirty="0"/>
              <a:t>Spiegare comparsa del log di coulomb</a:t>
            </a:r>
          </a:p>
          <a:p>
            <a:endParaRPr lang="it-IT" u="sng" dirty="0"/>
          </a:p>
          <a:p>
            <a:r>
              <a:rPr lang="it-IT" u="none" dirty="0"/>
              <a:t>Premessa su assunzioni e semplificazioni (distesa di particelle </a:t>
            </a:r>
            <a:r>
              <a:rPr lang="it-IT" u="none" dirty="0" err="1"/>
              <a:t>omogonea</a:t>
            </a:r>
            <a:r>
              <a:rPr lang="it-IT" u="none" dirty="0"/>
              <a:t> e isotropa, </a:t>
            </a:r>
            <a:r>
              <a:rPr lang="it-IT" u="none" dirty="0" err="1"/>
              <a:t>m_BH</a:t>
            </a:r>
            <a:r>
              <a:rPr lang="it-IT" u="none" dirty="0"/>
              <a:t> &lt;&lt; </a:t>
            </a:r>
            <a:r>
              <a:rPr lang="it-IT" u="none" dirty="0" err="1"/>
              <a:t>m_Host</a:t>
            </a:r>
            <a:r>
              <a:rPr lang="it-IT" u="none" dirty="0"/>
              <a:t>, …)</a:t>
            </a:r>
          </a:p>
          <a:p>
            <a:r>
              <a:rPr lang="it-IT" u="none" dirty="0"/>
              <a:t>spiegando perché la formula di </a:t>
            </a:r>
            <a:r>
              <a:rPr lang="it-IT" u="none" dirty="0" err="1"/>
              <a:t>Chandrasekhar</a:t>
            </a:r>
            <a:r>
              <a:rPr lang="it-IT" u="none" dirty="0"/>
              <a:t> spesso riesce a fittare le cose</a:t>
            </a:r>
          </a:p>
          <a:p>
            <a:endParaRPr lang="it-IT" u="sng" dirty="0"/>
          </a:p>
          <a:p>
            <a:r>
              <a:rPr lang="it-IT" u="none" dirty="0"/>
              <a:t>Sebbene sia molto arbitrario </a:t>
            </a:r>
            <a:r>
              <a:rPr lang="it-IT" u="none" dirty="0" err="1"/>
              <a:t>bmax</a:t>
            </a:r>
            <a:r>
              <a:rPr lang="it-IT" u="none" dirty="0"/>
              <a:t>, il ln(</a:t>
            </a:r>
            <a:r>
              <a:rPr lang="it-IT" u="none" dirty="0" err="1"/>
              <a:t>bmax</a:t>
            </a:r>
            <a:r>
              <a:rPr lang="it-IT" u="none" dirty="0"/>
              <a:t>/b90) varia poco</a:t>
            </a:r>
          </a:p>
          <a:p>
            <a:endParaRPr lang="it-IT" u="sng" dirty="0"/>
          </a:p>
          <a:p>
            <a:endParaRPr lang="it-IT" u="sng" dirty="0"/>
          </a:p>
          <a:p>
            <a:r>
              <a:rPr lang="it-IT" u="none" dirty="0"/>
              <a:t>formula 8.3 </a:t>
            </a:r>
            <a:r>
              <a:rPr lang="it-IT" u="none" dirty="0" err="1"/>
              <a:t>Galactic</a:t>
            </a:r>
            <a:r>
              <a:rPr lang="it-IT" u="none" dirty="0"/>
              <a:t> dynamics:</a:t>
            </a:r>
          </a:p>
          <a:p>
            <a:pPr marL="171450" indent="-171450">
              <a:buFontTx/>
              <a:buChar char="-"/>
            </a:pPr>
            <a:r>
              <a:rPr lang="it-IT" u="none" dirty="0"/>
              <a:t>Termine della rho(&lt;vs)</a:t>
            </a:r>
          </a:p>
          <a:p>
            <a:pPr marL="171450" indent="-171450">
              <a:buFontTx/>
              <a:buChar char="-"/>
            </a:pPr>
            <a:r>
              <a:rPr lang="it-IT" u="none" dirty="0"/>
              <a:t>Limite vs small</a:t>
            </a:r>
          </a:p>
          <a:p>
            <a:pPr marL="171450" indent="-171450">
              <a:buFontTx/>
              <a:buChar char="-"/>
            </a:pPr>
            <a:r>
              <a:rPr lang="it-IT" u="none" dirty="0"/>
              <a:t>Limite vs large</a:t>
            </a:r>
          </a:p>
          <a:p>
            <a:pPr marL="171450" indent="-171450">
              <a:buFontTx/>
              <a:buChar char="-"/>
            </a:pPr>
            <a:r>
              <a:rPr lang="it-IT" u="none" dirty="0"/>
              <a:t>Andamento generale</a:t>
            </a:r>
          </a:p>
          <a:p>
            <a:r>
              <a:rPr lang="it-IT" u="none" dirty="0"/>
              <a:t>Possibili analogie con spettro da corpo nero (Wien, e </a:t>
            </a:r>
            <a:r>
              <a:rPr lang="it-IT" u="none" dirty="0" err="1"/>
              <a:t>Rayleigh</a:t>
            </a:r>
            <a:r>
              <a:rPr lang="it-IT" u="none" dirty="0"/>
              <a:t>-jeans)</a:t>
            </a:r>
          </a:p>
          <a:p>
            <a:endParaRPr lang="it-IT" u="none" dirty="0"/>
          </a:p>
          <a:p>
            <a:r>
              <a:rPr lang="it-IT" u="none" dirty="0"/>
              <a:t>Discutere del </a:t>
            </a:r>
            <a:r>
              <a:rPr lang="it-IT" u="none" dirty="0" err="1"/>
              <a:t>t_relax</a:t>
            </a:r>
            <a:r>
              <a:rPr lang="it-IT" u="none" dirty="0"/>
              <a:t> e </a:t>
            </a:r>
            <a:r>
              <a:rPr lang="it-IT" u="none" dirty="0" err="1"/>
              <a:t>t_cross</a:t>
            </a:r>
            <a:r>
              <a:rPr lang="it-IT" u="none" dirty="0"/>
              <a:t> e dire quando il sistema è collisionale oppure no, sistema continuo oppure no</a:t>
            </a:r>
          </a:p>
          <a:p>
            <a:endParaRPr lang="it-IT" u="none" dirty="0"/>
          </a:p>
          <a:p>
            <a:endParaRPr lang="it-IT" u="sng" dirty="0"/>
          </a:p>
          <a:p>
            <a:endParaRPr lang="it-IT" u="none" dirty="0"/>
          </a:p>
          <a:p>
            <a:endParaRPr lang="it-IT" u="none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9369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Esempi iniziali per familiarizzare (Cometa), widget</a:t>
            </a:r>
          </a:p>
          <a:p>
            <a:endParaRPr lang="it-IT" dirty="0"/>
          </a:p>
          <a:p>
            <a:r>
              <a:rPr lang="it-IT" dirty="0"/>
              <a:t>Ricerca setup (Disco, gas, galleria del vento) -&gt; setup ideale trovato (ad occhio in base ai plot di </a:t>
            </a:r>
            <a:r>
              <a:rPr lang="it-IT" dirty="0" err="1"/>
              <a:t>x_BH</a:t>
            </a:r>
            <a:r>
              <a:rPr lang="it-IT" dirty="0"/>
              <a:t>, </a:t>
            </a:r>
            <a:r>
              <a:rPr lang="it-IT" dirty="0" err="1"/>
              <a:t>v_BH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dirty="0"/>
              <a:t>Discutere integratori, e valutarne l’ordine di accuratezza in funzione del </a:t>
            </a:r>
            <a:r>
              <a:rPr lang="it-IT" dirty="0" err="1"/>
              <a:t>dt</a:t>
            </a: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u="none" dirty="0" err="1"/>
              <a:t>Whfast</a:t>
            </a:r>
            <a:r>
              <a:rPr lang="it-IT" u="none" dirty="0"/>
              <a:t>: va bene soltanto per orbite kepleriane chiuse</a:t>
            </a:r>
            <a:endParaRPr lang="it-IT" u="sng" dirty="0"/>
          </a:p>
          <a:p>
            <a:r>
              <a:rPr lang="it-IT" u="none" dirty="0"/>
              <a:t>Ias15:  ordine 15 (fin troppo </a:t>
            </a:r>
            <a:r>
              <a:rPr lang="it-IT" u="none" dirty="0" err="1"/>
              <a:t>timestep</a:t>
            </a:r>
            <a:r>
              <a:rPr lang="it-IT" u="none" dirty="0"/>
              <a:t> adattivo, cazzi e mazzi), va bene per cometa ma non per il nostro caso</a:t>
            </a:r>
          </a:p>
          <a:p>
            <a:r>
              <a:rPr lang="it-IT" u="none" dirty="0" err="1"/>
              <a:t>Leapfrog</a:t>
            </a:r>
            <a:r>
              <a:rPr lang="it-IT" u="none" dirty="0"/>
              <a:t>: ordine 1 (a meno di errori nel calcolo della sua accuratezza, avvenuto considerando </a:t>
            </a:r>
            <a:r>
              <a:rPr lang="it-IT" u="none" dirty="0" err="1"/>
              <a:t>x_BH</a:t>
            </a:r>
            <a:r>
              <a:rPr lang="it-IT" u="none" dirty="0"/>
              <a:t> integrata con </a:t>
            </a:r>
            <a:r>
              <a:rPr lang="it-IT" u="none" dirty="0" err="1"/>
              <a:t>dt</a:t>
            </a:r>
            <a:r>
              <a:rPr lang="it-IT" u="none" dirty="0"/>
              <a:t> più piccolo),</a:t>
            </a:r>
          </a:p>
          <a:p>
            <a:r>
              <a:rPr lang="it-IT" u="none" dirty="0"/>
              <a:t> per quello che dobbiamo fare ci sta.</a:t>
            </a:r>
          </a:p>
          <a:p>
            <a:endParaRPr lang="it-IT" u="none" dirty="0"/>
          </a:p>
          <a:p>
            <a:r>
              <a:rPr lang="it-IT" u="none" dirty="0"/>
              <a:t>Risultato che ci interessa davvero è la scelta di un buon </a:t>
            </a:r>
            <a:r>
              <a:rPr lang="it-IT" u="none" dirty="0" err="1"/>
              <a:t>dt</a:t>
            </a:r>
            <a:r>
              <a:rPr lang="it-IT" u="none" dirty="0"/>
              <a:t> per le nostre simulazioni, il valore di default di 1E-3 va bene</a:t>
            </a:r>
          </a:p>
          <a:p>
            <a:endParaRPr lang="it-IT" u="none" dirty="0"/>
          </a:p>
          <a:p>
            <a:endParaRPr lang="it-IT" u="none" dirty="0"/>
          </a:p>
          <a:p>
            <a:endParaRPr lang="it-IT" u="none" dirty="0"/>
          </a:p>
          <a:p>
            <a:endParaRPr lang="it-IT" u="none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177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2D per via della simmetria dello scattering</a:t>
            </a:r>
          </a:p>
          <a:p>
            <a:endParaRPr lang="it-IT" dirty="0"/>
          </a:p>
          <a:p>
            <a:r>
              <a:rPr lang="it-IT" dirty="0"/>
              <a:t>scelta ottimale del range di </a:t>
            </a:r>
            <a:r>
              <a:rPr lang="it-IT" dirty="0" err="1"/>
              <a:t>m_BH</a:t>
            </a:r>
            <a:r>
              <a:rPr lang="it-IT" dirty="0"/>
              <a:t>, </a:t>
            </a:r>
            <a:r>
              <a:rPr lang="it-IT" dirty="0" err="1"/>
              <a:t>m_tot</a:t>
            </a:r>
            <a:r>
              <a:rPr lang="it-IT" dirty="0"/>
              <a:t>, </a:t>
            </a:r>
            <a:r>
              <a:rPr lang="it-IT" dirty="0" err="1"/>
              <a:t>Vx</a:t>
            </a:r>
            <a:r>
              <a:rPr lang="it-IT" dirty="0"/>
              <a:t> e di </a:t>
            </a:r>
            <a:r>
              <a:rPr lang="it-IT" dirty="0" err="1"/>
              <a:t>boxL</a:t>
            </a:r>
            <a:r>
              <a:rPr lang="it-IT" dirty="0"/>
              <a:t>, </a:t>
            </a:r>
            <a:r>
              <a:rPr lang="it-IT" dirty="0" err="1"/>
              <a:t>nx</a:t>
            </a:r>
            <a:r>
              <a:rPr lang="it-IT" dirty="0"/>
              <a:t>, </a:t>
            </a:r>
            <a:r>
              <a:rPr lang="it-IT" dirty="0" err="1"/>
              <a:t>ny</a:t>
            </a:r>
            <a:endParaRPr lang="it-IT" dirty="0"/>
          </a:p>
          <a:p>
            <a:endParaRPr lang="it-IT" dirty="0"/>
          </a:p>
          <a:p>
            <a:r>
              <a:rPr lang="it-IT" dirty="0"/>
              <a:t>Parliamo delle varie </a:t>
            </a:r>
            <a:r>
              <a:rPr lang="it-IT" dirty="0" err="1"/>
              <a:t>run</a:t>
            </a:r>
            <a:r>
              <a:rPr lang="it-IT" dirty="0"/>
              <a:t> preliminari fatte e di come abbiamo concluso che i parametri importanti sono </a:t>
            </a:r>
            <a:r>
              <a:rPr lang="it-IT" dirty="0" err="1"/>
              <a:t>m_BH</a:t>
            </a:r>
            <a:r>
              <a:rPr lang="it-IT" dirty="0"/>
              <a:t>, </a:t>
            </a:r>
            <a:r>
              <a:rPr lang="it-IT" dirty="0" err="1"/>
              <a:t>Vx</a:t>
            </a:r>
            <a:r>
              <a:rPr lang="it-IT" dirty="0"/>
              <a:t> (in range 1,100) </a:t>
            </a:r>
          </a:p>
          <a:p>
            <a:endParaRPr lang="it-IT" dirty="0"/>
          </a:p>
          <a:p>
            <a:r>
              <a:rPr lang="it-IT" dirty="0"/>
              <a:t>Facendo questa analisi abbiamo </a:t>
            </a:r>
            <a:r>
              <a:rPr lang="it-IT" dirty="0" err="1"/>
              <a:t>costurito</a:t>
            </a:r>
            <a:r>
              <a:rPr lang="it-IT" dirty="0"/>
              <a:t> funzioni e classi per agevolare le varie </a:t>
            </a:r>
            <a:r>
              <a:rPr lang="it-IT" dirty="0" err="1"/>
              <a:t>run</a:t>
            </a:r>
            <a:r>
              <a:rPr lang="it-IT" dirty="0"/>
              <a:t> con parametri diversi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E poi importante anche lo stop sicuro della </a:t>
            </a:r>
            <a:r>
              <a:rPr lang="it-IT" dirty="0" err="1"/>
              <a:t>sim</a:t>
            </a:r>
            <a:r>
              <a:rPr lang="it-IT" dirty="0"/>
              <a:t>, che aspetta la scrittura dei dati rimanenti prima di interrompere il kernel</a:t>
            </a:r>
          </a:p>
          <a:p>
            <a:endParaRPr lang="it-IT" dirty="0"/>
          </a:p>
          <a:p>
            <a:r>
              <a:rPr lang="it-IT" dirty="0"/>
              <a:t>Descrizione funzioni, gestione degli errori</a:t>
            </a:r>
          </a:p>
          <a:p>
            <a:endParaRPr lang="it-IT" dirty="0"/>
          </a:p>
          <a:p>
            <a:r>
              <a:rPr lang="it-IT" dirty="0"/>
              <a:t>Funzioni:</a:t>
            </a:r>
          </a:p>
          <a:p>
            <a:r>
              <a:rPr lang="it-IT" dirty="0"/>
              <a:t>Classe Setup</a:t>
            </a:r>
          </a:p>
          <a:p>
            <a:r>
              <a:rPr lang="it-IT" dirty="0" err="1"/>
              <a:t>Build_setup</a:t>
            </a:r>
            <a:endParaRPr lang="it-IT" dirty="0"/>
          </a:p>
          <a:p>
            <a:r>
              <a:rPr lang="it-IT" dirty="0" err="1"/>
              <a:t>Compute_deflection_angle</a:t>
            </a:r>
            <a:endParaRPr lang="it-IT" dirty="0"/>
          </a:p>
          <a:p>
            <a:r>
              <a:rPr lang="it-IT" dirty="0" err="1"/>
              <a:t>Compute_velocity_dispersion</a:t>
            </a:r>
            <a:endParaRPr lang="it-IT" dirty="0"/>
          </a:p>
          <a:p>
            <a:r>
              <a:rPr lang="it-IT" dirty="0" err="1"/>
              <a:t>Compute_acc_comparison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1279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Parlare dell’inizializzazione della </a:t>
            </a:r>
            <a:r>
              <a:rPr lang="it-IT" dirty="0" err="1"/>
              <a:t>sim</a:t>
            </a:r>
            <a:r>
              <a:rPr lang="it-IT" dirty="0"/>
              <a:t>, in </a:t>
            </a:r>
            <a:r>
              <a:rPr lang="it-IT" dirty="0" err="1"/>
              <a:t>particolre</a:t>
            </a:r>
            <a:r>
              <a:rPr lang="it-IT" dirty="0"/>
              <a:t> della sua durata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8198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Durata </a:t>
            </a:r>
            <a:r>
              <a:rPr lang="it-IT" dirty="0" err="1"/>
              <a:t>sim</a:t>
            </a:r>
            <a:endParaRPr lang="it-IT" dirty="0"/>
          </a:p>
          <a:p>
            <a:r>
              <a:rPr lang="it-IT" dirty="0" err="1"/>
              <a:t>x_BH</a:t>
            </a:r>
            <a:r>
              <a:rPr lang="it-IT" dirty="0"/>
              <a:t>, </a:t>
            </a:r>
            <a:r>
              <a:rPr lang="it-IT" dirty="0" err="1"/>
              <a:t>Vx</a:t>
            </a:r>
            <a:r>
              <a:rPr lang="it-IT" dirty="0"/>
              <a:t> particelle, distribuzione di velocità particelle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4796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Mettere formula dello scattering e spiegare i puntini blu (analogia scattering elettromagnetico</a:t>
            </a:r>
          </a:p>
          <a:p>
            <a:endParaRPr lang="it-IT" dirty="0"/>
          </a:p>
          <a:p>
            <a:r>
              <a:rPr lang="it-IT" dirty="0"/>
              <a:t>Mettere animazioni, per valori diversi di </a:t>
            </a:r>
            <a:r>
              <a:rPr lang="it-IT" dirty="0" err="1"/>
              <a:t>m_BH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0722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Mettere animazioni, per valori diversi di </a:t>
            </a:r>
            <a:r>
              <a:rPr lang="it-IT" dirty="0" err="1"/>
              <a:t>m_BH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9775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Mettere animazioni, per valori diversi di </a:t>
            </a:r>
            <a:r>
              <a:rPr lang="it-IT" dirty="0" err="1"/>
              <a:t>m_BH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1220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0750-727D-C497-05DA-6EA56262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279543-7D4F-7B23-ED56-589B59050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AFF8638-AA1F-C819-C9DA-30664D1D8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Mettere animazioni, per valori diversi di </a:t>
            </a:r>
            <a:r>
              <a:rPr lang="it-IT" dirty="0" err="1"/>
              <a:t>m_BH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CF5EB17-B62F-0E9A-1BA3-C5C1C66D7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6869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25C9-9EE6-FC88-E7E8-6BFE7CA2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0C216B-EF4E-B5C8-C88F-8E2AE0FBE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4A13718-48E6-F186-48E5-2EB40CBF1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Mettere animazioni, per valori diversi di </a:t>
            </a:r>
            <a:r>
              <a:rPr lang="it-IT" dirty="0" err="1"/>
              <a:t>m_BH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F69A51-9A2D-EC14-4A91-03EDE449D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7064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82AE-A507-3842-914B-0C944D7BE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8801C7-8BA1-E7C7-B030-E3EB07E13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6DAF723-897F-9DD3-2417-1AE076541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Mettere animazioni, per valori diversi di </a:t>
            </a:r>
            <a:r>
              <a:rPr lang="it-IT" dirty="0" err="1"/>
              <a:t>m_BH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32E8E6-0ECE-7282-1845-489C90DD9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478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4B19-2F6F-0412-4281-F247B841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48B04A-B836-0314-893C-C4602F0A6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3BD791-27C4-F4CA-6257-65892B2C7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Scompenso gravitazionale</a:t>
            </a:r>
          </a:p>
          <a:p>
            <a:r>
              <a:rPr lang="it-IT" dirty="0"/>
              <a:t>Far tornare i coefficienti dei </a:t>
            </a:r>
            <a:r>
              <a:rPr lang="it-IT" dirty="0" err="1"/>
              <a:t>fit</a:t>
            </a:r>
            <a:r>
              <a:rPr lang="it-IT" dirty="0"/>
              <a:t> con le quantità teoriche (se ci viene)</a:t>
            </a:r>
          </a:p>
          <a:p>
            <a:endParaRPr lang="it-IT" dirty="0"/>
          </a:p>
          <a:p>
            <a:r>
              <a:rPr lang="it-IT" dirty="0"/>
              <a:t>Coefficiente più delicato è </a:t>
            </a:r>
            <a:r>
              <a:rPr lang="it-IT" dirty="0" err="1"/>
              <a:t>bmax</a:t>
            </a:r>
            <a:r>
              <a:rPr lang="it-IT" dirty="0"/>
              <a:t>:</a:t>
            </a:r>
          </a:p>
          <a:p>
            <a:endParaRPr lang="it-IT" dirty="0"/>
          </a:p>
          <a:p>
            <a:r>
              <a:rPr lang="it-IT" dirty="0"/>
              <a:t>- Io nelle </a:t>
            </a:r>
            <a:r>
              <a:rPr lang="it-IT" dirty="0" err="1"/>
              <a:t>sim</a:t>
            </a:r>
            <a:r>
              <a:rPr lang="it-IT" dirty="0"/>
              <a:t> ho usato </a:t>
            </a:r>
            <a:r>
              <a:rPr lang="it-IT" dirty="0" err="1"/>
              <a:t>boxL</a:t>
            </a:r>
            <a:r>
              <a:rPr lang="it-IT" dirty="0"/>
              <a:t>*</a:t>
            </a:r>
            <a:r>
              <a:rPr lang="it-IT" dirty="0" err="1"/>
              <a:t>nx</a:t>
            </a:r>
            <a:r>
              <a:rPr lang="it-IT" dirty="0"/>
              <a:t>, magari era *</a:t>
            </a:r>
            <a:r>
              <a:rPr lang="it-IT" dirty="0" err="1"/>
              <a:t>ny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C53A07-934E-581C-8147-D0ECE8788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552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Come rifaremmo la </a:t>
            </a:r>
            <a:r>
              <a:rPr lang="it-IT" dirty="0" err="1"/>
              <a:t>sim</a:t>
            </a:r>
            <a:r>
              <a:rPr lang="it-IT" dirty="0"/>
              <a:t> avendo tempo a disposizione</a:t>
            </a:r>
          </a:p>
          <a:p>
            <a:endParaRPr lang="it-IT" dirty="0"/>
          </a:p>
          <a:p>
            <a:r>
              <a:rPr lang="it-IT" dirty="0"/>
              <a:t>Setup indipendente dalla posizione del </a:t>
            </a:r>
            <a:r>
              <a:rPr lang="it-IT" dirty="0" err="1"/>
              <a:t>x_BH</a:t>
            </a:r>
            <a:r>
              <a:rPr lang="it-IT" dirty="0"/>
              <a:t>, </a:t>
            </a:r>
            <a:r>
              <a:rPr lang="it-IT" dirty="0" err="1"/>
              <a:t>sdc</a:t>
            </a:r>
            <a:r>
              <a:rPr lang="it-IT" dirty="0"/>
              <a:t> centrato sul </a:t>
            </a:r>
            <a:r>
              <a:rPr lang="it-IT" dirty="0" err="1"/>
              <a:t>x_BH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7448E-A29A-4361-BEAE-5866CE46D312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02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4E154C-96E4-9514-5284-32183FC7C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222E27-2013-9909-E25D-03CF2975E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EF8A64-1747-6645-D27B-168CAED1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D385EE-F0EF-BEA9-5B3F-D3BE122C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84AE58-A3E6-B7A7-C91A-03E566EF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375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D02ACF-4B71-A63A-33CD-E9BACB61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E4FA94-D1A8-E535-526E-4C6F3A75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78F9A3-9390-66D3-D9C3-D3A9DF10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C2550C-9431-5C6D-DACF-2DE1B5D7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36B385-2170-2B7F-A9DD-AC274ED4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79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EBE1F7-ADB8-BBAC-F250-B9379436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F4CB740-BFF8-DC7B-BB20-30BDA0FBA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A18BC3-3C7A-C280-9726-DDAA343B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2145D9-0571-AD6B-A8DD-BDB0760F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36146-3A83-398C-2700-5C597515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395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F6E4C9-4D56-1B2C-5A1D-EB16E05E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81FBB6-CB5C-DACA-5A82-415E26E68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9F955A8-5275-6214-6F82-DBDEC9735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90D98C-25A3-5BCD-2FF0-65521107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81324B1-5CEC-B70B-337E-6BC1E0B4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7A36EF-6853-CB71-5F4F-03F70DC1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003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780BF3-D072-46D1-ACFE-380BD694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79C03D-EA35-A233-AEDA-9430D852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E775462-18A6-3E49-98CF-E36E3E6C9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2BD0802-C457-7559-6EC9-060F9BEBF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EDC7CFF-F175-121D-046A-17DEFAD2F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1F30DF8-FA48-8E3C-B6C5-AD8E4AB1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B1054EF-9D20-0F94-CDB6-DA24A4DF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E7AF8BE-ECE3-1003-E7AB-55341E4B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817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C8C562-FA27-E5EB-71D3-18CD5CB6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60A666-BDD7-7FC7-6EB6-A3825976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0ED73AA-5F22-F6E4-B29F-F1D70AC9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C6292AB-5AB8-0BB4-D3A8-BBA09818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23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8BDFB9B-735A-55CD-847F-C0457574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13F3AB9-C83C-4CBF-1143-8DC3B44F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A610F8-814B-9B65-5364-503D47F0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803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FFC3B0-5D56-48A1-4DB7-CBBAC6E9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A28316-35F8-2C4D-63AC-7DFE17408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C52DE9C-D3D6-664B-81D7-6E7FFA2A5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D1DD88-A170-A103-DC01-4A082605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3AB0C2-675C-0D50-E4D3-BE76C771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BC9B83-161F-96B9-E92F-374E0DDC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14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3F7ECE-8050-ABA4-E0D9-299985E2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689643-E4DE-F6B4-A21E-902273EDD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3C9114-DCAF-A12C-3CCF-7AC3833C4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9945017-0B11-815A-46A6-2DB4B04C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8C7BF9A-AFBF-9F53-5F46-51FE3BC9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AFEC3E-164A-F98D-2730-51FB7900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16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0FF28-7C1A-8C5F-82A7-C6C47048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585D98F-1D92-0170-87D1-2CBB5CC25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1262C7-B63E-38A9-A294-84B30FA4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D5BA99-1FE5-AC0B-1D98-0E332DEB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9FC5EB-0DE5-35DA-FC73-C310545D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204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62E484E-0E4A-7645-BD76-F12E97936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F70B8F-4245-A909-D635-80D5F7069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13B5D0-36E3-FCCA-25C9-7ADB82A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083FED-2029-BD2A-65B7-D5B715C02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05DEE7-AA89-DB23-A2A9-C43E75C7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06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F2A65D6-6D53-E33C-CF2F-D8A8281B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340C63-8ADD-D400-69E9-02FE6ED58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FFEE48-9796-1303-1889-D1EEBC5F6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DFCE0-801E-4CAB-AC2D-2E034A283D8E}" type="datetimeFigureOut">
              <a:rPr lang="it-IT" smtClean="0"/>
              <a:t>07/08/2025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E7B1B4-AFE4-F825-E848-2DA2C17A7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46B1EF-6787-7FE2-C244-8704F749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1932F-E65A-4451-A783-DBCF6A4266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52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3210C4D4-98AE-3153-72EA-00368B9128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Studio della frizione dinamica con simulazioni a N-corpi</a:t>
            </a:r>
            <a:endParaRPr lang="it-IT" dirty="0"/>
          </a:p>
        </p:txBody>
      </p:sp>
      <p:pic>
        <p:nvPicPr>
          <p:cNvPr id="10" name="Immagine 9" descr="Immagine che contiene cerchio, oscurità, Universo, spazio&#10;&#10;Il contenuto generato dall'IA potrebbe non essere corretto.">
            <a:extLst>
              <a:ext uri="{FF2B5EF4-FFF2-40B4-BE49-F238E27FC236}">
                <a16:creationId xmlns:a16="http://schemas.microsoft.com/office/drawing/2014/main" id="{8214E973-1DA5-CE61-5C16-B4C77F23A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4" t="14111" r="14148" b="14111"/>
          <a:stretch>
            <a:fillRect/>
          </a:stretch>
        </p:blipFill>
        <p:spPr>
          <a:xfrm>
            <a:off x="1645920" y="2071688"/>
            <a:ext cx="4031932" cy="4031932"/>
          </a:xfrm>
          <a:prstGeom prst="rect">
            <a:avLst/>
          </a:prstGeom>
        </p:spPr>
      </p:pic>
      <p:pic>
        <p:nvPicPr>
          <p:cNvPr id="12" name="Immagine 11" descr="Immagine che contiene schermata, oscurità, Rettangolo, nero&#10;&#10;Il contenuto generato dall'IA potrebbe non essere corretto.">
            <a:extLst>
              <a:ext uri="{FF2B5EF4-FFF2-40B4-BE49-F238E27FC236}">
                <a16:creationId xmlns:a16="http://schemas.microsoft.com/office/drawing/2014/main" id="{ED0F3AA9-6A2C-CAFE-6196-227D3ECF1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9" t="32555" r="17740" b="32889"/>
          <a:stretch>
            <a:fillRect/>
          </a:stretch>
        </p:blipFill>
        <p:spPr>
          <a:xfrm>
            <a:off x="5897880" y="2599849"/>
            <a:ext cx="5597209" cy="297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54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F4A58597-305D-0FD6-EAC5-FB439C2D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 teorica</a:t>
            </a:r>
          </a:p>
        </p:txBody>
      </p:sp>
    </p:spTree>
    <p:extLst>
      <p:ext uri="{BB962C8B-B14F-4D97-AF65-F5344CB8AC3E}">
        <p14:creationId xmlns:p14="http://schemas.microsoft.com/office/powerpoint/2010/main" val="1589615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98545-E4A1-B5B2-6FD1-708B7B24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REBOUND:</a:t>
            </a:r>
          </a:p>
        </p:txBody>
      </p:sp>
    </p:spTree>
    <p:extLst>
      <p:ext uri="{BB962C8B-B14F-4D97-AF65-F5344CB8AC3E}">
        <p14:creationId xmlns:p14="http://schemas.microsoft.com/office/powerpoint/2010/main" val="255545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2F481633-C642-A18D-4C59-7A55D05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Parametri setup: </a:t>
            </a:r>
            <a:r>
              <a:rPr lang="it-IT" dirty="0" err="1"/>
              <a:t>m_BH</a:t>
            </a:r>
            <a:r>
              <a:rPr lang="it-IT" dirty="0"/>
              <a:t>, </a:t>
            </a:r>
            <a:r>
              <a:rPr lang="it-IT" dirty="0" err="1"/>
              <a:t>m_tot</a:t>
            </a:r>
            <a:r>
              <a:rPr lang="it-IT" dirty="0"/>
              <a:t>, </a:t>
            </a:r>
            <a:r>
              <a:rPr lang="it-IT" dirty="0" err="1"/>
              <a:t>Vx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610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63DDE3E4-2001-BB9C-A07F-B76B63933BC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Parametri setup: integratori, </a:t>
            </a:r>
            <a:r>
              <a:rPr lang="it-IT" dirty="0" err="1"/>
              <a:t>dt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942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994FE2C-AF45-9068-9DF9-FA16B724C8C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Condizioni iniziali:</a:t>
            </a:r>
          </a:p>
        </p:txBody>
      </p:sp>
    </p:spTree>
    <p:extLst>
      <p:ext uri="{BB962C8B-B14F-4D97-AF65-F5344CB8AC3E}">
        <p14:creationId xmlns:p14="http://schemas.microsoft.com/office/powerpoint/2010/main" val="211341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FF57B-DCBE-4688-01A0-B11C8EBB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8A77A7ED-2D56-3619-9290-3D19E74A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Risultati: </a:t>
            </a:r>
            <a:r>
              <a:rPr lang="it-IT" dirty="0" err="1"/>
              <a:t>deflection</a:t>
            </a:r>
            <a:r>
              <a:rPr lang="it-IT" dirty="0"/>
              <a:t> angle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C96CDD2-AC58-0246-7BCC-69B9FE196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30837"/>
            <a:ext cx="6401693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6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D820D1B-C89A-BD98-FE94-81795599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Risultati: </a:t>
            </a:r>
            <a:r>
              <a:rPr lang="it-IT" dirty="0" err="1"/>
              <a:t>velocity</a:t>
            </a:r>
            <a:r>
              <a:rPr lang="it-IT" dirty="0"/>
              <a:t> </a:t>
            </a:r>
            <a:r>
              <a:rPr lang="it-IT" dirty="0" err="1"/>
              <a:t>dispersion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11EBE2B-9A41-181F-1C54-C4FEC160C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38" y="2352394"/>
            <a:ext cx="8945223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AC27-F2D4-716F-C3E1-B74E34FA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2AF2FEC-7B0F-04EA-6AC3-0B125FB1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Risultati: </a:t>
            </a:r>
            <a:r>
              <a:rPr lang="it-IT" dirty="0" err="1"/>
              <a:t>acc</a:t>
            </a:r>
            <a:r>
              <a:rPr lang="it-IT" dirty="0"/>
              <a:t> </a:t>
            </a:r>
            <a:r>
              <a:rPr lang="it-IT" dirty="0" err="1"/>
              <a:t>comparison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1364F98-2034-9E62-327D-8ECACD860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491" y="2399678"/>
            <a:ext cx="621116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73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3E65-D492-3736-3043-C52D564B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E0AEA057-6933-57FA-7DF6-3F4D7E95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Risultati: </a:t>
            </a:r>
            <a:r>
              <a:rPr lang="it-IT" dirty="0" err="1"/>
              <a:t>acc</a:t>
            </a:r>
            <a:r>
              <a:rPr lang="it-IT" dirty="0"/>
              <a:t> </a:t>
            </a:r>
            <a:r>
              <a:rPr lang="it-IT" dirty="0" err="1"/>
              <a:t>comparison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8C6CD1D-8FF9-AA6B-14FA-EC6353D93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2335"/>
            <a:ext cx="4634343" cy="316266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A64684D-B25B-F92F-3D49-6F44931DB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144" y="2439636"/>
            <a:ext cx="4981656" cy="338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80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310F-98A4-03B3-AA01-206A7F15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360F37C-945C-7B16-67B5-1749AEEA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Risultati: </a:t>
            </a:r>
            <a:r>
              <a:rPr lang="it-IT" dirty="0" err="1"/>
              <a:t>acc</a:t>
            </a:r>
            <a:r>
              <a:rPr lang="it-IT" dirty="0"/>
              <a:t> </a:t>
            </a:r>
            <a:r>
              <a:rPr lang="it-IT" dirty="0" err="1"/>
              <a:t>comparison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3C0A51B-5817-F59B-B4FA-4087AC3C6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69" y="1838166"/>
            <a:ext cx="4839342" cy="318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5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475C-F822-6C85-016E-1308840D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34E3733-7A39-1BB2-66B8-ABA600A0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Risultati: </a:t>
            </a:r>
            <a:r>
              <a:rPr lang="it-IT" dirty="0" err="1"/>
              <a:t>acc</a:t>
            </a:r>
            <a:r>
              <a:rPr lang="it-IT" dirty="0"/>
              <a:t> </a:t>
            </a:r>
            <a:r>
              <a:rPr lang="it-IT" dirty="0" err="1"/>
              <a:t>comparison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D2D842-E3AF-EEDD-D7B2-1D513E61F55C}"/>
              </a:ext>
            </a:extLst>
          </p:cNvPr>
          <p:cNvSpPr txBox="1"/>
          <p:nvPr/>
        </p:nvSpPr>
        <p:spPr>
          <a:xfrm>
            <a:off x="1727200" y="2133600"/>
            <a:ext cx="2792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Grafico log </a:t>
            </a:r>
            <a:r>
              <a:rPr lang="it-IT" dirty="0" err="1"/>
              <a:t>log</a:t>
            </a:r>
            <a:r>
              <a:rPr lang="it-IT" dirty="0"/>
              <a:t> di </a:t>
            </a:r>
            <a:r>
              <a:rPr lang="it-IT" dirty="0" err="1"/>
              <a:t>acc</a:t>
            </a:r>
            <a:r>
              <a:rPr lang="it-IT" dirty="0"/>
              <a:t> vs </a:t>
            </a:r>
            <a:r>
              <a:rPr lang="it-IT" dirty="0" err="1"/>
              <a:t>Vx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FE60AA-691C-D6D0-F6C8-C8A12A31BED8}"/>
              </a:ext>
            </a:extLst>
          </p:cNvPr>
          <p:cNvSpPr txBox="1"/>
          <p:nvPr/>
        </p:nvSpPr>
        <p:spPr>
          <a:xfrm>
            <a:off x="1727200" y="2945844"/>
            <a:ext cx="260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Grafico log </a:t>
            </a:r>
            <a:r>
              <a:rPr lang="it-IT" dirty="0" err="1"/>
              <a:t>log</a:t>
            </a:r>
            <a:r>
              <a:rPr lang="it-IT" dirty="0"/>
              <a:t>  b90 </a:t>
            </a:r>
            <a:r>
              <a:rPr lang="it-IT" dirty="0" err="1"/>
              <a:t>vx</a:t>
            </a:r>
            <a:r>
              <a:rPr lang="it-IT" dirty="0"/>
              <a:t> </a:t>
            </a:r>
            <a:r>
              <a:rPr lang="it-IT" dirty="0" err="1"/>
              <a:t>Vx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5185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6EA1F-A137-1226-D860-6285229C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71A0384-A943-9172-B78B-0980BC3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 dirty="0"/>
              <a:t>Conclusioni e sviluppi:</a:t>
            </a:r>
          </a:p>
        </p:txBody>
      </p:sp>
    </p:spTree>
    <p:extLst>
      <p:ext uri="{BB962C8B-B14F-4D97-AF65-F5344CB8AC3E}">
        <p14:creationId xmlns:p14="http://schemas.microsoft.com/office/powerpoint/2010/main" val="358818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468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622</Words>
  <Application>Microsoft Office PowerPoint</Application>
  <PresentationFormat>Widescreen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di Office</vt:lpstr>
      <vt:lpstr>Presentazione standard di PowerPoint</vt:lpstr>
      <vt:lpstr>Introduzione teorica</vt:lpstr>
      <vt:lpstr>REBOUND:</vt:lpstr>
      <vt:lpstr>Parametri setup: m_BH, m_tot, Vx </vt:lpstr>
      <vt:lpstr>Presentazione standard di PowerPoint</vt:lpstr>
      <vt:lpstr>Presentazione standard di PowerPoint</vt:lpstr>
      <vt:lpstr>Risultati: deflection angle</vt:lpstr>
      <vt:lpstr>Risultati: velocity dispersion</vt:lpstr>
      <vt:lpstr>Risultati: acc comparison</vt:lpstr>
      <vt:lpstr>Risultati: acc comparison</vt:lpstr>
      <vt:lpstr>Risultati: acc comparison</vt:lpstr>
      <vt:lpstr>Risultati: acc comparison</vt:lpstr>
      <vt:lpstr>Conclusioni e sviluppi: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IACHELINI LUCA</dc:creator>
  <cp:lastModifiedBy>IACHELINI LUCA</cp:lastModifiedBy>
  <cp:revision>20</cp:revision>
  <dcterms:created xsi:type="dcterms:W3CDTF">2025-08-07T08:30:55Z</dcterms:created>
  <dcterms:modified xsi:type="dcterms:W3CDTF">2025-08-08T01:46:58Z</dcterms:modified>
</cp:coreProperties>
</file>